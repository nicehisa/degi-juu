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bf0a457f6c4939" /><Relationship Type="http://schemas.openxmlformats.org/officeDocument/2006/relationships/extended-properties" Target="/docProps/app.xml" Id="R0fc7673905224254" /><Relationship Type="http://schemas.openxmlformats.org/officeDocument/2006/relationships/officeDocument" Target="/ppt/presentation.xml" Id="R7889b48cb6fa45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5dfbdf8d2f4b3b"/>
  </p:sldMasterIdLst>
  <p:notesMasterIdLst>
    <p:notesMasterId xmlns:r="http://schemas.openxmlformats.org/officeDocument/2006/relationships" r:id="R3c128d0877ba491e"/>
  </p:notesMasterIdLst>
  <p:sldIdLst>
    <p:sldId xmlns:r="http://schemas.openxmlformats.org/officeDocument/2006/relationships" id="256" r:id="Re2a71402fafd41fa"/>
    <p:sldId xmlns:r="http://schemas.openxmlformats.org/officeDocument/2006/relationships" id="257" r:id="Rbb4bbb656d6840a2"/>
    <p:sldId xmlns:r="http://schemas.openxmlformats.org/officeDocument/2006/relationships" id="258" r:id="Rc523453d35804a80"/>
    <p:sldId xmlns:r="http://schemas.openxmlformats.org/officeDocument/2006/relationships" id="259" r:id="R360396c343234bbf"/>
    <p:sldId xmlns:r="http://schemas.openxmlformats.org/officeDocument/2006/relationships" id="260" r:id="Rad56b621d69b426d"/>
    <p:sldId xmlns:r="http://schemas.openxmlformats.org/officeDocument/2006/relationships" id="261" r:id="R227aec4699814685"/>
    <p:sldId xmlns:r="http://schemas.openxmlformats.org/officeDocument/2006/relationships" id="262" r:id="R89843a180fa7475b"/>
    <p:sldId xmlns:r="http://schemas.openxmlformats.org/officeDocument/2006/relationships" id="263" r:id="Rd9613b8df8994a7a"/>
    <p:sldId xmlns:r="http://schemas.openxmlformats.org/officeDocument/2006/relationships" id="264" r:id="Rdc2050fceb1149c7"/>
    <p:sldId xmlns:r="http://schemas.openxmlformats.org/officeDocument/2006/relationships" id="265" r:id="Rf8e395c70eaa481c"/>
    <p:sldId xmlns:r="http://schemas.openxmlformats.org/officeDocument/2006/relationships" id="266" r:id="R2479cd686ab84eaa"/>
    <p:sldId xmlns:r="http://schemas.openxmlformats.org/officeDocument/2006/relationships" id="267" r:id="R59537252aaa042da"/>
    <p:sldId xmlns:r="http://schemas.openxmlformats.org/officeDocument/2006/relationships" id="268" r:id="R32f9b421f3f941c0"/>
    <p:sldId xmlns:r="http://schemas.openxmlformats.org/officeDocument/2006/relationships" id="269" r:id="R2d4e34fce061432c"/>
    <p:sldId xmlns:r="http://schemas.openxmlformats.org/officeDocument/2006/relationships" id="270" r:id="Rf96022b52a5b46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a059771ae04b03" /><Relationship Type="http://schemas.openxmlformats.org/officeDocument/2006/relationships/slideMaster" Target="/ppt/slideMasters/slideMaster1.xml" Id="R215dfbdf8d2f4b3b" /><Relationship Type="http://schemas.openxmlformats.org/officeDocument/2006/relationships/notesMaster" Target="/ppt/notesMasters/notesMaster1.xml" Id="R3c128d0877ba491e" /><Relationship Type="http://schemas.openxmlformats.org/officeDocument/2006/relationships/presProps" Target="/ppt/presProps.xml" Id="R594604b7dd8f41e6" /><Relationship Type="http://schemas.openxmlformats.org/officeDocument/2006/relationships/tableStyles" Target="/ppt/tableStyles.xml" Id="R134c6b5cdcac418c" /><Relationship Type="http://schemas.openxmlformats.org/officeDocument/2006/relationships/slide" Target="/ppt/slides/slide1.xml" Id="Re2a71402fafd41fa" /><Relationship Type="http://schemas.openxmlformats.org/officeDocument/2006/relationships/slide" Target="/ppt/slides/slide2.xml" Id="Rbb4bbb656d6840a2" /><Relationship Type="http://schemas.openxmlformats.org/officeDocument/2006/relationships/slide" Target="/ppt/slides/slide3.xml" Id="Rc523453d35804a80" /><Relationship Type="http://schemas.openxmlformats.org/officeDocument/2006/relationships/slide" Target="/ppt/slides/slide4.xml" Id="R360396c343234bbf" /><Relationship Type="http://schemas.openxmlformats.org/officeDocument/2006/relationships/slide" Target="/ppt/slides/slide5.xml" Id="Rad56b621d69b426d" /><Relationship Type="http://schemas.openxmlformats.org/officeDocument/2006/relationships/slide" Target="/ppt/slides/slide6.xml" Id="R227aec4699814685" /><Relationship Type="http://schemas.openxmlformats.org/officeDocument/2006/relationships/slide" Target="/ppt/slides/slide7.xml" Id="R89843a180fa7475b" /><Relationship Type="http://schemas.openxmlformats.org/officeDocument/2006/relationships/slide" Target="/ppt/slides/slide8.xml" Id="Rd9613b8df8994a7a" /><Relationship Type="http://schemas.openxmlformats.org/officeDocument/2006/relationships/slide" Target="/ppt/slides/slide9.xml" Id="Rdc2050fceb1149c7" /><Relationship Type="http://schemas.openxmlformats.org/officeDocument/2006/relationships/slide" Target="/ppt/slides/slide10.xml" Id="Rf8e395c70eaa481c" /><Relationship Type="http://schemas.openxmlformats.org/officeDocument/2006/relationships/slide" Target="/ppt/slides/slide11.xml" Id="R2479cd686ab84eaa" /><Relationship Type="http://schemas.openxmlformats.org/officeDocument/2006/relationships/slide" Target="/ppt/slides/slide12.xml" Id="R59537252aaa042da" /><Relationship Type="http://schemas.openxmlformats.org/officeDocument/2006/relationships/slide" Target="/ppt/slides/slide13.xml" Id="R32f9b421f3f941c0" /><Relationship Type="http://schemas.openxmlformats.org/officeDocument/2006/relationships/slide" Target="/ppt/slides/slide14.xml" Id="R2d4e34fce061432c" /><Relationship Type="http://schemas.openxmlformats.org/officeDocument/2006/relationships/slide" Target="/ppt/slides/slide15.xml" Id="Rf96022b52a5b46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1eaf26bcc142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6cbe17f29f4ce3" /><Relationship Type="http://schemas.openxmlformats.org/officeDocument/2006/relationships/notesMaster" Target="/ppt/notesMasters/notesMaster1.xml" Id="Rd7842abba33240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d71484787a4007" /><Relationship Type="http://schemas.openxmlformats.org/officeDocument/2006/relationships/notesMaster" Target="/ppt/notesMasters/notesMaster1.xml" Id="Rf616ed489e2144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d73d7428954543" /><Relationship Type="http://schemas.openxmlformats.org/officeDocument/2006/relationships/notesMaster" Target="/ppt/notesMasters/notesMaster1.xml" Id="R185e43e8edd54a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ccc679e3f0438a" /><Relationship Type="http://schemas.openxmlformats.org/officeDocument/2006/relationships/notesMaster" Target="/ppt/notesMasters/notesMaster1.xml" Id="Ra096e3595f7245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803ca812aa49db" /><Relationship Type="http://schemas.openxmlformats.org/officeDocument/2006/relationships/notesMaster" Target="/ppt/notesMasters/notesMaster1.xml" Id="R5d9704ef415c4c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dca38f223944d6" /><Relationship Type="http://schemas.openxmlformats.org/officeDocument/2006/relationships/notesMaster" Target="/ppt/notesMasters/notesMaster1.xml" Id="R30683146b86342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cd2a2e1f0c40ec" /><Relationship Type="http://schemas.openxmlformats.org/officeDocument/2006/relationships/notesMaster" Target="/ppt/notesMasters/notesMaster1.xml" Id="R7f1d4effabb042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1e37c48f454c31" /><Relationship Type="http://schemas.openxmlformats.org/officeDocument/2006/relationships/notesMaster" Target="/ppt/notesMasters/notesMaster1.xml" Id="R1b652a1d729247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00213504c54863" /><Relationship Type="http://schemas.openxmlformats.org/officeDocument/2006/relationships/notesMaster" Target="/ppt/notesMasters/notesMaster1.xml" Id="R187879f1e69f47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403b4ad881489b" /><Relationship Type="http://schemas.openxmlformats.org/officeDocument/2006/relationships/notesMaster" Target="/ppt/notesMasters/notesMaster1.xml" Id="R8ab67a71014744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8b39301bba43b2" /><Relationship Type="http://schemas.openxmlformats.org/officeDocument/2006/relationships/notesMaster" Target="/ppt/notesMasters/notesMaster1.xml" Id="R77927d6c8a5f48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ea2a12cf424754" /><Relationship Type="http://schemas.openxmlformats.org/officeDocument/2006/relationships/notesMaster" Target="/ppt/notesMasters/notesMaster1.xml" Id="Rbe565c4e0b404a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a3176afc3b41ab" /><Relationship Type="http://schemas.openxmlformats.org/officeDocument/2006/relationships/notesMaster" Target="/ppt/notesMasters/notesMaster1.xml" Id="R67b08442c3144f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904d09ed9d4671" /><Relationship Type="http://schemas.openxmlformats.org/officeDocument/2006/relationships/notesMaster" Target="/ppt/notesMasters/notesMaster1.xml" Id="R008a077b6ecf43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77a24622d84658" /><Relationship Type="http://schemas.openxmlformats.org/officeDocument/2006/relationships/notesMaster" Target="/ppt/notesMasters/notesMaster1.xml" Id="R802cccf1306444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docs/business-plan.md</a:t>
            </a:r>
          </a:p>
          <a:p xmlns:a="http://schemas.openxmlformats.org/drawingml/2006/main">
            <a:r>
              <a:t>Cover image: public/images/top-rural-landscape.png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docs/business-plan.md</a:t>
            </a:r>
          </a:p>
          <a:p xmlns:a="http://schemas.openxmlformats.org/drawingml/2006/main">
            <a:r>
              <a:t>Based on standard-case assumptions in Section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docs/business-plan.md</a:t>
            </a:r>
          </a:p>
          <a:p xmlns:a="http://schemas.openxmlformats.org/drawingml/2006/main">
            <a:r>
              <a:t>Problem framing from Sections 2 and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docs/business-plan.md</a:t>
            </a:r>
          </a:p>
          <a:p xmlns:a="http://schemas.openxmlformats.org/drawingml/2006/main">
            <a:r>
              <a:t>Expansion model from Section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docs/business-plan.md</a:t>
            </a:r>
          </a:p>
          <a:p xmlns:a="http://schemas.openxmlformats.org/drawingml/2006/main">
            <a:r>
              <a:t>Service menu and pricing estimates from Section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docs/business-plan.md</a:t>
            </a:r>
          </a:p>
          <a:p xmlns:a="http://schemas.openxmlformats.org/drawingml/2006/main">
            <a:r>
              <a:t>Revenue figures are plan assumptions in Section 10.3, unit: JPY 10,000.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docs/business-plan.md</a:t>
            </a:r>
          </a:p>
          <a:p xmlns:a="http://schemas.openxmlformats.org/drawingml/2006/main">
            <a:r>
              <a:t>Standard-case revenue plan from Section 10.3, unit: JPY 10,000.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docs/business-plan.md</a:t>
            </a:r>
          </a:p>
          <a:p xmlns:a="http://schemas.openxmlformats.org/drawingml/2006/main">
            <a:r>
              <a:t>Development budget estimates from Section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docs/business-plan.md</a:t>
            </a:r>
          </a:p>
          <a:p xmlns:a="http://schemas.openxmlformats.org/drawingml/2006/main">
            <a:r>
              <a:t>Required features from Section 6.2.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docs/business-plan.md</a:t>
            </a:r>
          </a:p>
          <a:p xmlns:a="http://schemas.openxmlformats.org/drawingml/2006/main">
            <a:r>
              <a:t>Technical strategy from Section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docs/business-plan.md</a:t>
            </a:r>
          </a:p>
          <a:p xmlns:a="http://schemas.openxmlformats.org/drawingml/2006/main">
            <a:r>
              <a:t>Risk controls from Section 8. Legal review required before launch of sales functions.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docs/business-plan.md</a:t>
            </a:r>
          </a:p>
          <a:p xmlns:a="http://schemas.openxmlformats.org/drawingml/2006/main">
            <a:r>
              <a:t>Sales targets and motion from Section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docs/business-plan.md</a:t>
            </a:r>
          </a:p>
          <a:p xmlns:a="http://schemas.openxmlformats.org/drawingml/2006/main">
            <a:r>
              <a:t>KPI plan from Section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docs/business-plan.md</a:t>
            </a:r>
          </a:p>
          <a:p xmlns:a="http://schemas.openxmlformats.org/drawingml/2006/main">
            <a:r>
              <a:t>Implementation priorities from Section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docs/business-plan.md</a:t>
            </a:r>
          </a:p>
          <a:p xmlns:a="http://schemas.openxmlformats.org/drawingml/2006/main">
            <a:r>
              <a:t>Closing recommendation synthesized from Sections 13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df8a9fbf0145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017bed2ed3482f" /><Relationship Type="http://schemas.openxmlformats.org/officeDocument/2006/relationships/slideLayout" Target="/ppt/slideLayouts/slideLayout1.xml" Id="R8a3fadb8310647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3fadb8310647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e7fd2e845423f" /><Relationship Type="http://schemas.openxmlformats.org/officeDocument/2006/relationships/image" Target="/ppt/media/image.png" Id="R3dd7ae665d9d492d" /><Relationship Type="http://schemas.openxmlformats.org/officeDocument/2006/relationships/notesSlide" Target="/ppt/notesSlides/notesSlide1.xml" Id="R3a0906029c2447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42fae85424d01" /><Relationship Type="http://schemas.openxmlformats.org/officeDocument/2006/relationships/notesSlide" Target="/ppt/notesSlides/notesSlide2.xml" Id="R556ef8dfd00144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b8b658c7a4b1c" /><Relationship Type="http://schemas.openxmlformats.org/officeDocument/2006/relationships/notesSlide" Target="/ppt/notesSlides/notesSlide3.xml" Id="R546d2dabfbc64e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369f755cb41e5" /><Relationship Type="http://schemas.openxmlformats.org/officeDocument/2006/relationships/notesSlide" Target="/ppt/notesSlides/notesSlide4.xml" Id="R424d94bb269942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ed889b5cc4a1a" /><Relationship Type="http://schemas.openxmlformats.org/officeDocument/2006/relationships/notesSlide" Target="/ppt/notesSlides/notesSlide5.xml" Id="R79e55238a5984f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6b82a3525414f" /><Relationship Type="http://schemas.openxmlformats.org/officeDocument/2006/relationships/chart" Target="/ppt/slides/charts/chart1.xml" Id="Rc7b6b06b74d54404" /><Relationship Type="http://schemas.openxmlformats.org/officeDocument/2006/relationships/notesSlide" Target="/ppt/notesSlides/notesSlide6.xml" Id="Rf59f1b00938441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fd1ba9649449d" /><Relationship Type="http://schemas.openxmlformats.org/officeDocument/2006/relationships/chart" Target="/ppt/slides/charts/chart2.xml" Id="R09fec3cbace5463a" /><Relationship Type="http://schemas.openxmlformats.org/officeDocument/2006/relationships/notesSlide" Target="/ppt/notesSlides/notesSlide7.xml" Id="R749f2fd620ef4d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a33d46d364e5d" /><Relationship Type="http://schemas.openxmlformats.org/officeDocument/2006/relationships/notesSlide" Target="/ppt/notesSlides/notesSlide8.xml" Id="R6928d8bf02de49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ed51f30734cef" /><Relationship Type="http://schemas.openxmlformats.org/officeDocument/2006/relationships/notesSlide" Target="/ppt/notesSlides/notesSlide9.xml" Id="Ra261732cc2d64d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ac725e5394bf9" /><Relationship Type="http://schemas.openxmlformats.org/officeDocument/2006/relationships/notesSlide" Target="/ppt/notesSlides/notesSlide10.xml" Id="R4a7d62d125f947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bbdfd8123436c" /><Relationship Type="http://schemas.openxmlformats.org/officeDocument/2006/relationships/notesSlide" Target="/ppt/notesSlides/notesSlide11.xml" Id="R072e236501314a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c531055c84f27" /><Relationship Type="http://schemas.openxmlformats.org/officeDocument/2006/relationships/notesSlide" Target="/ppt/notesSlides/notesSlide12.xml" Id="Rb988fd55af4244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5a517db0240c3" /><Relationship Type="http://schemas.openxmlformats.org/officeDocument/2006/relationships/notesSlide" Target="/ppt/notesSlides/notesSlide13.xml" Id="Rf967387408bb4b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53166aec5494f" /><Relationship Type="http://schemas.openxmlformats.org/officeDocument/2006/relationships/notesSlide" Target="/ppt/notesSlides/notesSlide14.xml" Id="Rfb812dca49674d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df04a9ff84a7d" /><Relationship Type="http://schemas.openxmlformats.org/officeDocument/2006/relationships/notesSlide" Target="/ppt/notesSlides/notesSlide15.xml" Id="Rcf2c26cb0fb440c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1年目売上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3"/>
              <c:pt idx="0">
                <c:v>制作費</c:v>
              </c:pt>
              <c:pt idx="1">
                <c:v>運用費</c:v>
              </c:pt>
              <c:pt idx="2">
                <c:v>広告/PR</c:v>
              </c:pt>
            </c:strLit>
          </c:cat>
          <c:val>
            <c:numLit>
              <c:formatCode>General</c:formatCode>
              <c:ptCount val="3"/>
              <c:pt idx="0">
                <c:v>1500</c:v>
              </c:pt>
              <c:pt idx="1">
                <c:v>600</c:v>
              </c:pt>
              <c:pt idx="2">
                <c:v>400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制作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3"/>
              <c:pt idx="0">
                <c:v>1年目</c:v>
              </c:pt>
              <c:pt idx="1">
                <c:v>2年目</c:v>
              </c:pt>
              <c:pt idx="2">
                <c:v>3年目</c:v>
              </c:pt>
            </c:strLit>
          </c:cat>
          <c:val>
            <c:numLit>
              <c:formatCode>#,##0</c:formatCode>
              <c:ptCount val="3"/>
              <c:pt idx="0">
                <c:v>1500</c:v>
              </c:pt>
              <c:pt idx="1">
                <c:v>3000</c:v>
              </c:pt>
              <c:pt idx="2">
                <c:v>4500</c:v>
              </c:pt>
            </c:numLit>
          </c:val>
        </c:ser>
        <c:ser>
          <c:idx val="1"/>
          <c:order val="1"/>
          <c:tx>
            <c:v>運用</c:v>
          </c:tx>
          <c:spPr>
            <a:solidFill xmlns:a="http://schemas.openxmlformats.org/drawingml/2006/main">
              <a:srgbClr val="16A34A"/>
            </a:solidFill>
          </c:spPr>
          <c:cat>
            <c:strLit>
              <c:ptCount val="3"/>
              <c:pt idx="0">
                <c:v>1年目</c:v>
              </c:pt>
              <c:pt idx="1">
                <c:v>2年目</c:v>
              </c:pt>
              <c:pt idx="2">
                <c:v>3年目</c:v>
              </c:pt>
            </c:strLit>
          </c:cat>
          <c:val>
            <c:numLit>
              <c:formatCode>#,##0</c:formatCode>
              <c:ptCount val="3"/>
              <c:pt idx="0">
                <c:v>600</c:v>
              </c:pt>
              <c:pt idx="1">
                <c:v>3600</c:v>
              </c:pt>
              <c:pt idx="2">
                <c:v>10800</c:v>
              </c:pt>
            </c:numLit>
          </c:val>
        </c:ser>
        <c:ser>
          <c:idx val="2"/>
          <c:order val="2"/>
          <c:tx>
            <c:v>手数料/広告</c:v>
          </c:tx>
          <c:spPr>
            <a:solidFill xmlns:a="http://schemas.openxmlformats.org/drawingml/2006/main">
              <a:srgbClr val="F97316"/>
            </a:solidFill>
          </c:spPr>
          <c:cat>
            <c:strLit>
              <c:ptCount val="3"/>
              <c:pt idx="0">
                <c:v>1年目</c:v>
              </c:pt>
              <c:pt idx="1">
                <c:v>2年目</c:v>
              </c:pt>
              <c:pt idx="2">
                <c:v>3年目</c:v>
              </c:pt>
            </c:strLit>
          </c:cat>
          <c:val>
            <c:numLit>
              <c:formatCode>#,##0</c:formatCode>
              <c:ptCount val="3"/>
              <c:pt idx="0">
                <c:v>400</c:v>
              </c:pt>
              <c:pt idx="1">
                <c:v>1400</c:v>
              </c:pt>
              <c:pt idx="2">
                <c:v>2700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4B5563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7ae665d9d492d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03143-5AB0-4029-91FE-73DBE9F1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7E31D-B5DB-44E5-8E90-0CFA62DC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97316"/>
                </a:solidFill>
              </a:defRPr>
            </a:pPr>
            <a:r>
              <a:rPr sz="2550" b="1">
                <a:solidFill>
                  <a:srgbClr val="F97316"/>
                </a:solidFill>
              </a:rPr>
              <a:t>デジじゅう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D1D09-C26F-4ADC-8AD4-78C6588E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429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地域ファン制度を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制作・販売・運用する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プラットフォームへ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E3979-28E0-40EC-AB2D-6500EABB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NFT/アプリ制作、販売モール、CRM、広告PRまでを一気通貫で提供する3年事業計画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B0ADA-852A-4004-8C97-F933FC73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2026.08.31 | Business Plan Ver.1</a:t>
            </a:r>
          </a:p>
        </p:txBody>
      </p:sp>
    </p:spTree>
    <p:extLst>
      <p:ext uri="{BB962C8B-B14F-4D97-AF65-F5344CB8AC3E}">
        <p14:creationId xmlns:p14="http://schemas.microsoft.com/office/powerpoint/2010/main" val="5610935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4C59E-DD9E-4CF7-A392-E90F5404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デジじゅう 事業計画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83962-CB57-4F30-889E-201B5DB2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結論：比較サイトから自治体向けSaaSへ広げる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852DF-783A-412D-9D79-05E1AFCA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7BE36-DC27-45B4-B280-5195782A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FB2F5-5B03-43B8-8135-898472CD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比較メディア単体では広告収益に限界がある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C6F2E-12C8-4E6A-9EAC-BAB8AE21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3C98D-9487-40C0-95F1-6791F7ED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自治体には制度設計、制作、販売、運用までの支援ニーズがある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4C0C2-3A51-434E-96AF-89D6D052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ED7E9-3060-4BC5-8CC3-6336B882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まず制作・運用で受注し、販売モールは段階的に実装する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4F356-8464-4A5A-AA4C-7C74D681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61462-62A3-42C6-8035-15EE1D62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3年目の標準目標は導入60自治体、年間売上1.8億円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0DE10-95C7-4AF1-8CAD-06C55DB4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C53E8E-37FA-4C63-B395-CE96B414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2563EB"/>
                </a:solidFill>
              </a:defRPr>
            </a:pPr>
            <a:r>
              <a:rPr sz="2625" b="1">
                <a:solidFill>
                  <a:srgbClr val="2563EB"/>
                </a:solidFill>
              </a:rPr>
              <a:t>60件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6C8E4-5D96-477F-A00F-A6600FAC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146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3年目の標準導入自治体数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4EED6-A148-43C4-A23E-5493E036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E5E32-891E-435E-BD1C-7F87D870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243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F97316"/>
                </a:solidFill>
              </a:defRPr>
            </a:pPr>
            <a:r>
              <a:rPr sz="2625" b="1">
                <a:solidFill>
                  <a:srgbClr val="F97316"/>
                </a:solidFill>
              </a:rPr>
              <a:t>1.8億円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6DA08-60A8-4937-BA25-B5BDF1DA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386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3年目の標準売上目標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070F4-D4DF-464E-A0A4-E32498B0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デジじゅう | Business Plan Ver.1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4A99E-FED0-412C-884A-FBA17CC6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76519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C8A4B-CC82-478B-B358-2981ABA8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デジじゅう 事業計画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19BEC-81F6-446A-A6EB-8DEC2619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市場の課題は、情報分散と運用負担にある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987FF-18EF-469B-AEEF-88F59FCC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07733"/>
                <a:gridCol w="3793067"/>
                <a:gridCol w="4267200"/>
              </a:tblGrid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対象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現状課題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デジじゅうの提供価値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ユーザー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制度情報が分散し比較しづらい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地域・特典・制度タイプで横断検索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自治体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企画から運用まで自前対応が重い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LP、申込、CRM、PRをパッケージ化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地域事業者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地域ファンへの継続接点が弱い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特典・販売・配信で再訪や購買を促す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デジじゅう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メディア単体では収益が限定的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制作費、月額、手数料、広告で複線化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48C9B-C8CA-4CE5-8153-BD81367B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デジじゅう | Business Plan Ver.1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9E19B-4A01-4049-AE29-656A72BD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9346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0F6D9-838E-4D04-8C17-B36F1D6D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デジじゅう 事業計画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9AD51-980F-4DBA-862C-D1E650C3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事業は3段階で拡張する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AFAB8-343C-48D4-9DD9-0A9644FA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602F8-A24C-4636-A46E-75FE15E1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1CF9E-07A0-487C-87BD-03CC6DCB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Phase 1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比較・送客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74A1A-2622-419A-9390-7CE8EFA7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制度検索、公式送客、掲載依頼、PR掲載で初期収益化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EAB6C-EB33-400E-988A-3C357F12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861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150" b="1">
                <a:solidFill>
                  <a:srgbClr val="9CA3AF"/>
                </a:solidFill>
              </a:defRPr>
            </a:pPr>
            <a:r>
              <a:rPr sz="315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0DD54-13D5-43E6-822B-3CDD2E20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9B993-D953-4FDF-B44A-322E9F5F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Phase 2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制作・運用支援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DD48C-02FC-4391-B55F-E8CDB470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自治体向けLP、会員証、CRM、運用代行を提供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A0718-B818-4A7E-AF67-CDAD103F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861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150" b="1">
                <a:solidFill>
                  <a:srgbClr val="9CA3AF"/>
                </a:solidFill>
              </a:defRPr>
            </a:pPr>
            <a:r>
              <a:rPr sz="3150" b="1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9FAF6-622E-441A-BC29-1BF3E1CF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05618-235B-4C89-85EC-9EDAFE44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479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Phase 3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販売モール・SaaS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FFDD8-C574-43D0-A134-2EF8C1F0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195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決済、購入者管理、特典管理、自治体管理画面を提供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DAF31-E958-42FA-BAF3-3F3A5925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デジじゅう | Business Plan Ver.1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B4C96-7C91-4B00-BD5B-08845849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07302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739C7-EDAA-4166-9902-37129EB8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デジじゅう 事業計画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D442C-9360-444E-9D6A-C421CB2C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収益源は4本柱で設計する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C26C6-13A9-4193-A438-466CBB7C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94000"/>
                <a:gridCol w="5334000"/>
                <a:gridCol w="2540000"/>
              </a:tblGrid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収益源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価格目安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初期制作費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LP、申込、会員証、NFT/アプリ連携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50万〜800万円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月額運用費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更新、CRM、配信、レポート、問い合わせ対応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5万〜80万円/月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販売手数料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デジタル会員証やNFT販売額に対する手数料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5〜15%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広告・PR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PR掲載、記事広告、配信枠、特集ページ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5万〜50万円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E1996-0B86-4421-8651-A30643BD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デジじゅう | Business Plan Ver.1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085C0-D641-4912-94BA-AF0AA6EC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17206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64716-BF44-4C80-810B-91799DBD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デジじゅう 事業計画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3BE0F-8E37-4BD1-9392-19CA7828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初年度は制作受託と運用月額で収益を作る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4756C-E35F-43D7-9748-78EA3E14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6477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b6b06b74d5440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40B9C-EF16-447E-A371-B9F82396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150" b="1">
                <a:solidFill>
                  <a:srgbClr val="F97316"/>
                </a:solidFill>
              </a:defRPr>
            </a:pPr>
            <a:r>
              <a:rPr sz="3150" b="1">
                <a:solidFill>
                  <a:srgbClr val="F97316"/>
                </a:solidFill>
              </a:rPr>
              <a:t>標準ケース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3150" b="1">
                <a:solidFill>
                  <a:srgbClr val="F97316"/>
                </a:solidFill>
              </a:defRPr>
            </a:pPr>
            <a:r>
              <a:rPr sz="3150" b="1">
                <a:solidFill>
                  <a:srgbClr val="F97316"/>
                </a:solidFill>
              </a:rPr>
              <a:t>2,500万円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1B89A-EF77-48F0-ADA6-B96C5DE9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導入10自治体を目標に、まずは販売モールよりも受注しやすい制作・運用支援を前面に出す。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486A6-411D-46EC-BAFE-9AD10EA9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デジじゅう | Business Plan Ver.1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44DE2-6DD8-4303-88C4-FE65C428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83423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BB33D-290B-44A1-8B4E-962C641D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デジじゅう 事業計画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3CF8C-8EDE-428E-B835-3D37D08E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3年で月額収益を主軸に変える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5DA1C-BCD0-462E-9B23-2634545C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fec3cbace5463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3BC85-FA19-4D1C-A887-58686F4A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2B5E8-A3A7-48EF-875F-2ACB4DA7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4792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2563EB"/>
                </a:solidFill>
              </a:defRPr>
            </a:pPr>
            <a:r>
              <a:rPr sz="2625" b="1">
                <a:solidFill>
                  <a:srgbClr val="2563EB"/>
                </a:solidFill>
              </a:rPr>
              <a:t>2,500万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46244-AF66-4642-B938-CF2C02F0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622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1年目売上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CE3DA-9BC1-4AC1-8F51-E9040DB2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7C47D-EA99-402D-88F7-A4C0BBEC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8142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16A34A"/>
                </a:solidFill>
              </a:defRPr>
            </a:pPr>
            <a:r>
              <a:rPr sz="2625" b="1">
                <a:solidFill>
                  <a:srgbClr val="16A34A"/>
                </a:solidFill>
              </a:rPr>
              <a:t>8,000万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29CC1-243E-41D0-959B-71C01AA8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957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2年目売上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801A7-F8A6-4B09-B220-DE90CC3F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F0499-0BA3-427D-A579-59199B67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1492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F97316"/>
                </a:solidFill>
              </a:defRPr>
            </a:pPr>
            <a:r>
              <a:rPr sz="2625" b="1">
                <a:solidFill>
                  <a:srgbClr val="F97316"/>
                </a:solidFill>
              </a:rPr>
              <a:t>1.8億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7616C-F8F5-404F-A727-F7AE7EF8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6292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3年目売上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6DF9B-6D17-4198-9F86-8A42A3AB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デジじゅう | Business Plan Ver.1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2E3B3-A934-45FA-BC5E-BCCC971B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72838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E3342-E1B1-4710-BE7C-B3A585DD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デジじゅう 事業計画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9804D-325C-4BEE-AF37-0F101FBC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開発投資は受注確度に合わせて段階化する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F2133-8432-4D7C-86B7-4C98C160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96533"/>
                <a:gridCol w="4504267"/>
                <a:gridCol w="1896533"/>
                <a:gridCol w="2370667"/>
              </a:tblGrid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フェーズ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期間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予算目安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Phase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営業導線、管理画面、問い合わせ管理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1〜2か月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50万〜150万円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Phase 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Supabase本格化、自治体管理、CRM基盤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2〜4か月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150万〜400万円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Phase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商品管理、Stripe決済、購入者管理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3〜6か月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300万〜800万円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Phase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NFT連携、特典管理、自治体別レポート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6〜12か月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800万〜2,000万円以上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FD206-A40D-4D47-A199-FFCC1644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デジじゅう | Business Plan Ver.1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984E9-7617-49D5-8F16-5651F794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18272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85F39-4BE4-4B47-AE60-AEFCF841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デジじゅう 事業計画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D3C2D-E33A-4287-9D67-5F511582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モール化に必要な機能は決済だけではない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F2D89-38AE-416C-9827-D955CD07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0CFD7-4944-40FA-B952-5B11E7D4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96B1D-6802-48BD-B535-0BD24801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商品管理：自治体別の商品、価格、販売期間、在庫、公開状態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A2884-30E6-457D-B874-7A234396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5E012-82BD-40F7-98B4-02B6FB87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購入者管理：購入履歴、保有証明、特典利用状態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8B86D-60EB-4040-81F1-05334D3D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7B92C-EC7F-4EB0-BF9D-4EC0BD20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特典管理：クーポン、施設優待、イベント招待、利用済み管理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B28DC-091A-47D0-99F7-8B442444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C627D-2424-420C-9B80-F533A6DA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自治体管理画面：販売状況、購入者一覧、月次レポート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3EAC4-39C4-43C4-AA8F-380AE818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B1F9E-D283-41ED-BAD9-4BA8F727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規約同意：返金、特典変更、NFT注意事項への同意取得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132EF-C0D7-4937-99CC-1223DADD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90750"/>
            <a:ext cx="1143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05923-694B-45DC-B750-4C8F3554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57450"/>
            <a:ext cx="704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決済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販売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CRM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特典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法務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03067-4959-4E77-850E-8746F283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デジじゅう | Business Plan Ver.1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88924-94E1-441F-87E6-535858CC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74714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2EFAE-C216-4B19-9091-EA76AA8A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デジじゅう 事業計画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20BC0-4A86-4A06-AF34-C3ADCAEA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NFTは外部連携から始める方が安全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5317A-BD26-4949-B4B4-1A118FF7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286000"/>
          <a:ext xmlns:a="http://schemas.openxmlformats.org/drawingml/2006/main" cx="106680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40000"/>
                <a:gridCol w="3810000"/>
                <a:gridCol w="431800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選択肢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メリット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注意点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外部NFT基盤連携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初期費用と法務負担を抑えやすい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購入体験やデータ取得に制約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通常会員証販売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決済とCRMを先に検証できる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NFTらしさは弱い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独自NFT発行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体験設計とデータ活用の自由度が高い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法務、ウォレット、運用負担が大きい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0DA2E-CB0C-4A54-8B21-9E36B135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97316"/>
                </a:solidFill>
              </a:defRPr>
            </a:pPr>
            <a:r>
              <a:rPr sz="1800" b="1">
                <a:solidFill>
                  <a:srgbClr val="F97316"/>
                </a:solidFill>
              </a:rPr>
              <a:t>推奨：通常会員証販売 → 外部NFT連携 → 独自発行の順で検証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3A3F1-64C8-4E41-A173-1DBED193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デジじゅう | Business Plan Ver.1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0D50F-1925-4D05-850A-CCE64411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68813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A957C-6A70-47C2-ACA7-69673B97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デジじゅう 事業計画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67415-DB49-462B-99F2-B0776E8F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法務リスクを標準仕様として潰す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3B7F7-C806-45D8-985E-A1E37B10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6680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333750"/>
                <a:gridCol w="733425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リスク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標準対策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法律上の住民票と誤認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住民票・住民登録・転入手続きではない旨を全ページ表示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ふるさと納税と誤認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税控除の対象ではない旨を明記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NFTの投資性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値上がり、儲かる、資産性を想起させる表現を禁止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自治体公式サイト誤認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デジじゅうは自治体公式サイトではない旨を表示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景表法・特典表現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条件、期間、変更可能性を併記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6F6B8-761D-482E-82B5-F91A9D6E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デジじゅう | Business Plan Ver.1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401F9-AA96-44AF-A302-77B8EF12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291331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DF4BE-D544-4C03-810F-AAAC1DB1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デジじゅう 事業計画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2170C-B40F-46CD-A7A0-61D15594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営業は自治体だけでなく周辺組織も狙う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5F7B7-B5E9-40AE-ABF6-9C99BF85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6858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6000"/>
                <a:gridCol w="457200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ターゲット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提案内容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自治体企画課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関係人口創出、移住前接点、地域ファン制度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観光協会/DMO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観光リピーター、イベント参加者、アンバサダー化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地域商社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特産品販売、会員証、限定販売、CRM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道の駅/観光施設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デジタル会員証、クーポン、来店促進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71382-0E27-45D1-B486-9160BB97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00B2D-F506-4070-8CB5-7A9DF4F2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資料請求LP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D0FBC-688F-4A00-B94D-2E174513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F8B15-FA52-47D1-A421-BA8356A9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オンライン説明会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2BCA9-62FB-4EA3-A879-5DC5C19C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50DE7-C6F3-44EB-8925-C18CC953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480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初期3事例の獲得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99CAD-DDF8-43DB-B4FC-C311E70E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A435F-76DC-4097-A9E3-3E44FAC9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195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記事・DMで横展開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B1F77-69BB-4A61-A733-D2A7E86B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デジじゅう | Business Plan Ver.1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878B0-67FA-43ED-9640-53BA8967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266008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C9DE1-AD83-4D22-B39B-6A532312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デジじゅう 事業計画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307A9-3551-4C38-A149-818C53A0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KPIはメディア、営業、運用、モールで分ける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37E12-31D7-44E2-BE50-380D7D49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106680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7000"/>
                <a:gridCol w="8001000"/>
              </a:tblGrid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主要KPI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メディア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月間UU、検索流入、詳細ページ閲覧、公式クリック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営業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資料請求数、商談数、受注率、平均受注単価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自治体運用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導入自治体数、継続率、月額単価、更新頻度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商品数、販売件数、GMV、販売手数料、購入CVR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メルマガ/LINE登録、開封率、クリック率、再購入率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87D1C-204F-4700-9CB2-6F1A8F78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デジじゅう | Business Plan Ver.1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6C38C-79E0-49D6-9A89-5C3ECEDA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920577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CBD92-F1B5-4A9E-960D-2A8A31C3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デジじゅう 事業計画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BFC44-3AC8-44A4-B695-97C6D3BB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直近90日は営業導線とデータ基盤に集中する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462AE-1441-4C6C-AC20-0632D6B6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1AA29-FEC6-4FB1-AFDC-9D83F5B6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E9526-12A1-455C-8630-900DE0BC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9144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自治体向けサービスページと価格表を公開する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2776F-D4E7-451B-B637-E96AD344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2CBD0-A971-4081-9A3B-6DBE2FD5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3675"/>
            <a:ext cx="9144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資料請求フォームとホワイトペーパーDLを整備する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D8ED7-5E2F-463B-9F60-8CF8D44D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08449-9512-4B67-AF67-E9BB55D8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9144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問い合わせ・掲載依頼・広告相談を管理画面で一覧化する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EC71D-0907-450F-A527-7F5C61C9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AF93D-8672-4043-AEFB-01A1EFBA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9525"/>
            <a:ext cx="9144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Supabase接続を本番運用し、更新作業を非エンジニア化する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CB1EF-4F0D-4502-AEE4-1AAA1B3D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C76A3-024C-4334-8CD1-F6611DBE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9144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NFT独自発行は法務確認と販売実績の後に着手する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6F8D7-9C58-4871-A857-93C3DAA8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デジじゅう | Business Plan Ver.1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295B2-E382-4F47-99FB-F712EAEC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602851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D6C9A-FD8C-4D34-9991-B2CCE001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次の意思決定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6D5F7-FB15-4FC6-8881-669585A3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モール開発の前に、自治体向け営業商品を先に固める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D9F2B-21A2-4D9B-A235-8722D229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488C6-4B86-4333-A4B5-5FF03296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価格表と提案書を作る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7C7B6-BAAD-4F69-A201-56D7FE69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21C5D-515F-4936-90A2-7B17556E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最初の導入候補自治体を20件リスト化する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5187B-C3A1-4F4D-843F-EBB1E77B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E75F8-BE1A-42A1-8CF3-549E1F01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法務文書の弁護士確認範囲を決める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8B1EF-613E-4DA8-83D7-B5B7BE56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0E76F-7488-4768-9461-1108DCB3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Phase 1/2の開発予算を確定する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95592-D289-42DE-9F8B-1CB006E0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BE9F0-EC19-4D59-96AF-D6FE13D9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2563EB"/>
                </a:solidFill>
              </a:defRPr>
            </a:pPr>
            <a:r>
              <a:rPr sz="2625" b="1">
                <a:solidFill>
                  <a:srgbClr val="2563EB"/>
                </a:solidFill>
              </a:rPr>
              <a:t>Phase 1/2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63F25-A114-4B72-8635-AAD47D3F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814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先行投資の推奨範囲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9FC4F-F22E-40F3-B870-A32F9881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762D4-F82F-4545-AB98-08886077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F97316"/>
                </a:solidFill>
              </a:defRPr>
            </a:pPr>
            <a:r>
              <a:rPr sz="2625" b="1">
                <a:solidFill>
                  <a:srgbClr val="F97316"/>
                </a:solidFill>
              </a:rPr>
              <a:t>90日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F1006-7FDA-4B60-B53C-49F8EFC0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054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営業導線とDB整備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21240-7315-4483-A5AC-CBBA9F06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デジじゅう | Business Plan Ver.1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4D644A-FDC5-41E5-8449-2B0BF3A6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52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2026-08-31T09:56:27.6370000Z</dcterms:created>
  <dcterms:modified xsi:type="dcterms:W3CDTF">2026-08-31T09:56:27.6370000Z</dcterms:modified>
</coreProperties>
</file>